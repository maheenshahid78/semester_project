
<file path=[Content_Types].xml><?xml version="1.0" encoding="utf-8"?>
<Types xmlns="http://schemas.openxmlformats.org/package/2006/content-types">
  <Default Extension="png" ContentType="image/pn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3" r:id="rId3"/>
    <p:sldId id="257" r:id="rId4"/>
    <p:sldId id="262" r:id="rId5"/>
    <p:sldId id="259" r:id="rId6"/>
    <p:sldId id="264" r:id="rId7"/>
    <p:sldId id="267" r:id="rId8"/>
    <p:sldId id="266" r:id="rId9"/>
    <p:sldId id="260"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830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3200302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332919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2808576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4270954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997053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748587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webp"/><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161943"/>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948376" y="-418797"/>
            <a:ext cx="14537933" cy="8558373"/>
          </a:xfrm>
          <a:prstGeom prst="rect">
            <a:avLst/>
          </a:prstGeom>
        </p:spPr>
      </p:pic>
      <p:sp>
        <p:nvSpPr>
          <p:cNvPr id="5" name="Text 2"/>
          <p:cNvSpPr/>
          <p:nvPr/>
        </p:nvSpPr>
        <p:spPr>
          <a:xfrm>
            <a:off x="-881006" y="3937446"/>
            <a:ext cx="4744089" cy="1520575"/>
          </a:xfrm>
          <a:prstGeom prst="rect">
            <a:avLst/>
          </a:prstGeom>
          <a:noFill/>
          <a:ln/>
        </p:spPr>
        <p:txBody>
          <a:bodyPr wrap="none" rtlCol="0" anchor="t"/>
          <a:lstStyle/>
          <a:p>
            <a:pPr marL="0" indent="0">
              <a:lnSpc>
                <a:spcPts val="6561"/>
              </a:lnSpc>
              <a:buNone/>
            </a:pPr>
            <a:r>
              <a:rPr lang="en-US" sz="5400" dirty="0">
                <a:solidFill>
                  <a:srgbClr val="1B1B27"/>
                </a:solidFill>
                <a:latin typeface="Calisto MT (Body)"/>
                <a:ea typeface="Raleway" pitchFamily="34" charset="-122"/>
                <a:cs typeface="Raleway" pitchFamily="34" charset="-120"/>
              </a:rPr>
              <a:t>Medical </a:t>
            </a:r>
            <a:r>
              <a:rPr lang="en-US" sz="5400" dirty="0" smtClean="0">
                <a:solidFill>
                  <a:srgbClr val="1B1B27"/>
                </a:solidFill>
                <a:latin typeface="Calisto MT (Body)"/>
                <a:ea typeface="Raleway" pitchFamily="34" charset="-122"/>
                <a:cs typeface="Raleway" pitchFamily="34" charset="-120"/>
              </a:rPr>
              <a:t>Cost</a:t>
            </a:r>
          </a:p>
          <a:p>
            <a:pPr marL="0" indent="0">
              <a:lnSpc>
                <a:spcPts val="6561"/>
              </a:lnSpc>
              <a:buNone/>
            </a:pPr>
            <a:r>
              <a:rPr lang="en-US" sz="5400" dirty="0" smtClean="0">
                <a:solidFill>
                  <a:srgbClr val="1B1B27"/>
                </a:solidFill>
                <a:latin typeface="Calisto MT (Body)"/>
                <a:ea typeface="Raleway" pitchFamily="34" charset="-122"/>
                <a:cs typeface="Raleway" pitchFamily="34" charset="-120"/>
              </a:rPr>
              <a:t> Prediction</a:t>
            </a:r>
          </a:p>
          <a:p>
            <a:pPr marL="0" indent="0">
              <a:lnSpc>
                <a:spcPts val="6561"/>
              </a:lnSpc>
              <a:buNone/>
            </a:pPr>
            <a:endParaRPr lang="en-US" sz="5400" dirty="0" smtClean="0">
              <a:solidFill>
                <a:srgbClr val="1B1B27"/>
              </a:solidFill>
              <a:latin typeface="Calisto MT (Body)"/>
              <a:ea typeface="Raleway" pitchFamily="34" charset="-122"/>
            </a:endParaRPr>
          </a:p>
          <a:p>
            <a:pPr marL="0" indent="0">
              <a:lnSpc>
                <a:spcPts val="6561"/>
              </a:lnSpc>
              <a:buNone/>
            </a:pPr>
            <a:r>
              <a:rPr lang="en-US" sz="2800" dirty="0" smtClean="0">
                <a:solidFill>
                  <a:srgbClr val="1B1B27"/>
                </a:solidFill>
                <a:latin typeface="Calisto MT (Body)"/>
                <a:ea typeface="Raleway" pitchFamily="34" charset="-122"/>
              </a:rPr>
              <a:t>Prepared by: Maheen Shahid</a:t>
            </a:r>
            <a:endParaRPr lang="en-US" sz="2800" dirty="0">
              <a:solidFill>
                <a:srgbClr val="1B1B27"/>
              </a:solidFill>
              <a:latin typeface="Calisto MT (Body)"/>
              <a:ea typeface="Raleway" pitchFamily="34" charset="-122"/>
            </a:endParaRPr>
          </a:p>
          <a:p>
            <a:pPr marL="0" indent="0">
              <a:lnSpc>
                <a:spcPts val="6561"/>
              </a:lnSpc>
              <a:buNone/>
            </a:pPr>
            <a:endParaRPr lang="en-US" sz="5400" dirty="0">
              <a:latin typeface="Calisto MT (Body)"/>
            </a:endParaRPr>
          </a:p>
        </p:txBody>
      </p:sp>
      <p:sp>
        <p:nvSpPr>
          <p:cNvPr id="6" name="Text 3"/>
          <p:cNvSpPr/>
          <p:nvPr/>
        </p:nvSpPr>
        <p:spPr>
          <a:xfrm>
            <a:off x="6320591" y="3513762"/>
            <a:ext cx="6994717" cy="1782316"/>
          </a:xfrm>
          <a:prstGeom prst="rect">
            <a:avLst/>
          </a:prstGeom>
          <a:noFill/>
          <a:ln/>
        </p:spPr>
        <p:txBody>
          <a:bodyPr wrap="square" rtlCol="0" anchor="t"/>
          <a:lstStyle/>
          <a:p>
            <a:pPr marL="0" indent="0">
              <a:lnSpc>
                <a:spcPts val="2799"/>
              </a:lnSpc>
              <a:buNone/>
            </a:pPr>
            <a:endParaRPr lang="en-US" sz="1750" dirty="0"/>
          </a:p>
        </p:txBody>
      </p:sp>
      <p:sp>
        <p:nvSpPr>
          <p:cNvPr id="7" name="Shape 4"/>
          <p:cNvSpPr/>
          <p:nvPr/>
        </p:nvSpPr>
        <p:spPr>
          <a:xfrm>
            <a:off x="6319599" y="5356027"/>
            <a:ext cx="355402" cy="355402"/>
          </a:xfrm>
          <a:prstGeom prst="roundRect">
            <a:avLst>
              <a:gd name="adj" fmla="val 25726039"/>
            </a:avLst>
          </a:prstGeom>
          <a:noFill/>
          <a:ln w="7620">
            <a:solidFill>
              <a:srgbClr val="FFFFFF"/>
            </a:solidFill>
            <a:prstDash val="solid"/>
          </a:ln>
        </p:spPr>
      </p:sp>
      <p:sp>
        <p:nvSpPr>
          <p:cNvPr id="9" name="Text 5"/>
          <p:cNvSpPr/>
          <p:nvPr/>
        </p:nvSpPr>
        <p:spPr>
          <a:xfrm>
            <a:off x="6786086" y="5339358"/>
            <a:ext cx="2225040" cy="388858"/>
          </a:xfrm>
          <a:prstGeom prst="rect">
            <a:avLst/>
          </a:prstGeom>
          <a:noFill/>
          <a:ln/>
        </p:spPr>
        <p:txBody>
          <a:bodyPr wrap="none" rtlCol="0" anchor="t"/>
          <a:lstStyle/>
          <a:p>
            <a:pPr marL="0" indent="0" algn="l">
              <a:lnSpc>
                <a:spcPts val="3062"/>
              </a:lnSpc>
              <a:buNone/>
            </a:pPr>
            <a:endParaRPr lang="en-US" sz="2187"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1"/>
            <a:ext cx="14630400" cy="8658648"/>
          </a:xfrm>
          <a:prstGeom prst="rect">
            <a:avLst/>
          </a:prstGeom>
          <a:solidFill>
            <a:srgbClr val="FFFFFF">
              <a:alpha val="75000"/>
            </a:srgbClr>
          </a:solidFill>
          <a:ln/>
        </p:spPr>
      </p:sp>
      <p:sp>
        <p:nvSpPr>
          <p:cNvPr id="5" name="Text 2"/>
          <p:cNvSpPr/>
          <p:nvPr/>
        </p:nvSpPr>
        <p:spPr>
          <a:xfrm>
            <a:off x="585627" y="1068512"/>
            <a:ext cx="3102795" cy="721944"/>
          </a:xfrm>
          <a:prstGeom prst="rect">
            <a:avLst/>
          </a:prstGeom>
          <a:noFill/>
          <a:ln/>
        </p:spPr>
        <p:txBody>
          <a:bodyPr wrap="none" rtlCol="0" anchor="t"/>
          <a:lstStyle/>
          <a:p>
            <a:pPr marL="0" indent="0">
              <a:lnSpc>
                <a:spcPts val="5468"/>
              </a:lnSpc>
              <a:buNone/>
            </a:pPr>
            <a:r>
              <a:rPr lang="en-US" sz="4374" dirty="0" smtClean="0">
                <a:solidFill>
                  <a:srgbClr val="1B1B27"/>
                </a:solidFill>
                <a:latin typeface="Raleway" pitchFamily="34" charset="0"/>
                <a:ea typeface="Raleway" pitchFamily="34" charset="-122"/>
              </a:rPr>
              <a:t>Introduction</a:t>
            </a:r>
            <a:endParaRPr lang="en-US" sz="4374" dirty="0"/>
          </a:p>
        </p:txBody>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endParaRPr lang="en-US" sz="2187" dirty="0"/>
          </a:p>
        </p:txBody>
      </p:sp>
      <p:sp>
        <p:nvSpPr>
          <p:cNvPr id="8" name="Text 5"/>
          <p:cNvSpPr/>
          <p:nvPr/>
        </p:nvSpPr>
        <p:spPr>
          <a:xfrm>
            <a:off x="287677" y="2414427"/>
            <a:ext cx="5332287" cy="1726058"/>
          </a:xfrm>
          <a:prstGeom prst="rect">
            <a:avLst/>
          </a:prstGeom>
          <a:noFill/>
          <a:ln/>
        </p:spPr>
        <p:txBody>
          <a:bodyPr wrap="square" rtlCol="0" anchor="t"/>
          <a:lstStyle/>
          <a:p>
            <a:pPr>
              <a:lnSpc>
                <a:spcPts val="2799"/>
              </a:lnSpc>
            </a:pPr>
            <a:r>
              <a:rPr lang="en-US" sz="1750" dirty="0">
                <a:ea typeface="Roboto"/>
              </a:rPr>
              <a:t>This project focuses on predicting medical expenses based on various factors such as age, BMI, number of children, smoking habits, and region. The goal is to develop a model that can accurately estimate medical costs, providing valuable insights for both individuals and insurers.</a:t>
            </a:r>
          </a:p>
          <a:p>
            <a:pPr>
              <a:lnSpc>
                <a:spcPts val="2799"/>
              </a:lnSpc>
            </a:pPr>
            <a:r>
              <a:rPr lang="en-US" sz="1750" dirty="0">
                <a:solidFill>
                  <a:srgbClr val="3C3939"/>
                </a:solidFill>
                <a:ea typeface="Roboto" pitchFamily="34" charset="-122"/>
                <a:cs typeface="Roboto" pitchFamily="34" charset="-120"/>
              </a:rPr>
              <a:t>.</a:t>
            </a:r>
            <a:endParaRPr lang="en-US" sz="1750" dirty="0"/>
          </a:p>
          <a:p>
            <a:pPr marL="0" indent="0">
              <a:lnSpc>
                <a:spcPts val="2799"/>
              </a:lnSpc>
              <a:buNone/>
            </a:pPr>
            <a:endParaRPr lang="en-US" sz="1750" dirty="0" smtClean="0">
              <a:solidFill>
                <a:srgbClr val="3C3939"/>
              </a:solidFill>
              <a:latin typeface="Roboto" pitchFamily="34" charset="0"/>
              <a:ea typeface="Roboto" pitchFamily="34" charset="-122"/>
              <a:cs typeface="Roboto" pitchFamily="34" charset="-12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4899" y="1"/>
            <a:ext cx="8825502" cy="8658646"/>
          </a:xfrm>
          <a:prstGeom prst="rect">
            <a:avLst/>
          </a:prstGeom>
        </p:spPr>
      </p:pic>
    </p:spTree>
    <p:extLst>
      <p:ext uri="{BB962C8B-B14F-4D97-AF65-F5344CB8AC3E}">
        <p14:creationId xmlns:p14="http://schemas.microsoft.com/office/powerpoint/2010/main" val="3123756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txBody>
          <a:bodyPr/>
          <a:lstStyle/>
          <a:p>
            <a:pPr marR="0" lvl="0">
              <a:lnSpc>
                <a:spcPct val="90000"/>
              </a:lnSpc>
              <a:spcBef>
                <a:spcPct val="20000"/>
              </a:spcBef>
              <a:spcAft>
                <a:spcPts val="600"/>
              </a:spcAft>
              <a:buClr>
                <a:schemeClr val="tx2"/>
              </a:buClr>
              <a:buSzPct val="70000"/>
              <a:tabLst>
                <a:tab pos="457200" algn="l"/>
              </a:tabLst>
            </a:pPr>
            <a:endParaRPr lang="en-US" b="1" dirty="0">
              <a:ln>
                <a:solidFill>
                  <a:schemeClr val="bg1">
                    <a:lumMod val="75000"/>
                    <a:lumOff val="25000"/>
                    <a:alpha val="10000"/>
                  </a:schemeClr>
                </a:solidFill>
              </a:ln>
              <a:effectLst>
                <a:outerShdw blurRad="9525" dist="25400" dir="14640000" algn="tl" rotWithShape="0">
                  <a:schemeClr val="bg1">
                    <a:alpha val="30000"/>
                  </a:schemeClr>
                </a:outerShdw>
              </a:effectLst>
              <a:ea typeface="Roboto"/>
            </a:endParaRPr>
          </a:p>
          <a:p>
            <a:pPr marR="0" lvl="0">
              <a:lnSpc>
                <a:spcPct val="90000"/>
              </a:lnSpc>
              <a:spcBef>
                <a:spcPct val="20000"/>
              </a:spcBef>
              <a:spcAft>
                <a:spcPts val="600"/>
              </a:spcAft>
              <a:buClr>
                <a:schemeClr val="tx2"/>
              </a:buClr>
              <a:buSzPct val="70000"/>
              <a:tabLst>
                <a:tab pos="457200" algn="l"/>
              </a:tabLst>
            </a:pPr>
            <a:endParaRPr lang="en-US"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endParaRPr>
          </a:p>
          <a:p>
            <a:pPr marR="0" lvl="0">
              <a:lnSpc>
                <a:spcPct val="90000"/>
              </a:lnSpc>
              <a:spcBef>
                <a:spcPct val="20000"/>
              </a:spcBef>
              <a:spcAft>
                <a:spcPts val="600"/>
              </a:spcAft>
              <a:buClr>
                <a:schemeClr val="tx2"/>
              </a:buClr>
              <a:buSzPct val="70000"/>
              <a:tabLst>
                <a:tab pos="457200" algn="l"/>
              </a:tabLst>
            </a:pPr>
            <a:r>
              <a:rPr lang="en-US" b="1" dirty="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a:t>
            </a:r>
            <a:r>
              <a:rPr lang="en-US"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a:t>
            </a:r>
          </a:p>
          <a:p>
            <a:pPr marR="0" lvl="0">
              <a:lnSpc>
                <a:spcPct val="90000"/>
              </a:lnSpc>
              <a:spcBef>
                <a:spcPct val="20000"/>
              </a:spcBef>
              <a:spcAft>
                <a:spcPts val="600"/>
              </a:spcAft>
              <a:buClr>
                <a:schemeClr val="tx2"/>
              </a:buClr>
              <a:buSzPct val="70000"/>
              <a:tabLst>
                <a:tab pos="457200" algn="l"/>
              </a:tabLst>
            </a:pPr>
            <a:r>
              <a:rPr lang="en-US" sz="4370" b="1" dirty="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a:t>
            </a:r>
            <a:r>
              <a:rPr lang="en-US" sz="4370"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Factors Influence by Medical Cost:</a:t>
            </a:r>
          </a:p>
          <a:p>
            <a:pPr marR="0" lvl="0">
              <a:lnSpc>
                <a:spcPct val="90000"/>
              </a:lnSpc>
              <a:spcBef>
                <a:spcPct val="20000"/>
              </a:spcBef>
              <a:spcAft>
                <a:spcPts val="600"/>
              </a:spcAft>
              <a:buClr>
                <a:schemeClr val="tx2"/>
              </a:buClr>
              <a:buSzPct val="70000"/>
              <a:tabLst>
                <a:tab pos="457200" algn="l"/>
              </a:tabLst>
            </a:pPr>
            <a:r>
              <a:rPr lang="en-US" sz="4370" b="1" dirty="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a:t>
            </a:r>
            <a:r>
              <a:rPr lang="en-US" sz="4370"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     </a:t>
            </a:r>
            <a:r>
              <a:rPr lang="en-US" sz="3200"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1. Age:</a:t>
            </a:r>
          </a:p>
          <a:p>
            <a:pPr marR="0" lvl="0">
              <a:lnSpc>
                <a:spcPct val="90000"/>
              </a:lnSpc>
              <a:spcBef>
                <a:spcPct val="20000"/>
              </a:spcBef>
              <a:spcAft>
                <a:spcPts val="600"/>
              </a:spcAft>
              <a:buClr>
                <a:schemeClr val="tx2"/>
              </a:buClr>
              <a:buSzPct val="70000"/>
              <a:tabLst>
                <a:tab pos="457200" algn="l"/>
              </a:tabLst>
            </a:pPr>
            <a:r>
              <a:rPr lang="en-US" sz="175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onster"/>
                <a:ea typeface="Roboto"/>
              </a:rPr>
              <a:t> </a:t>
            </a:r>
            <a:r>
              <a:rPr lang="en-US" sz="1750" b="1" dirty="0" smtClean="0">
                <a:ln>
                  <a:solidFill>
                    <a:schemeClr val="bg1">
                      <a:lumMod val="75000"/>
                      <a:lumOff val="25000"/>
                      <a:alpha val="10000"/>
                    </a:schemeClr>
                  </a:solidFill>
                </a:ln>
                <a:effectLst>
                  <a:outerShdw blurRad="9525" dist="25400" dir="14640000" algn="tl" rotWithShape="0">
                    <a:schemeClr val="bg1">
                      <a:alpha val="30000"/>
                    </a:schemeClr>
                  </a:outerShdw>
                </a:effectLst>
                <a:latin typeface="Monster"/>
                <a:ea typeface="Roboto"/>
              </a:rPr>
              <a:t>               </a:t>
            </a:r>
            <a:r>
              <a:rPr lang="en-US" sz="1750" dirty="0" smtClean="0">
                <a:solidFill>
                  <a:srgbClr val="272525"/>
                </a:solidFill>
                <a:latin typeface="Monster"/>
                <a:ea typeface="Roboto"/>
                <a:cs typeface="Montserrat" pitchFamily="34" charset="-120"/>
              </a:rPr>
              <a:t>Determine </a:t>
            </a:r>
            <a:r>
              <a:rPr lang="en-US" sz="1750" dirty="0">
                <a:solidFill>
                  <a:srgbClr val="272525"/>
                </a:solidFill>
                <a:latin typeface="Monster"/>
                <a:ea typeface="Roboto"/>
                <a:cs typeface="Montserrat" pitchFamily="34" charset="-120"/>
              </a:rPr>
              <a:t>the correlation between age and medical expenses, considering age-related </a:t>
            </a:r>
            <a:endParaRPr lang="en-US" sz="1750" dirty="0" smtClean="0">
              <a:solidFill>
                <a:srgbClr val="272525"/>
              </a:solidFill>
              <a:latin typeface="Monster"/>
              <a:ea typeface="Roboto"/>
              <a:cs typeface="Montserrat" pitchFamily="34" charset="-120"/>
            </a:endParaRPr>
          </a:p>
          <a:p>
            <a:pPr marR="0" lvl="0">
              <a:lnSpc>
                <a:spcPct val="90000"/>
              </a:lnSpc>
              <a:spcBef>
                <a:spcPct val="20000"/>
              </a:spcBef>
              <a:spcAft>
                <a:spcPts val="600"/>
              </a:spcAft>
              <a:buClr>
                <a:schemeClr val="tx2"/>
              </a:buClr>
              <a:buSzPct val="70000"/>
              <a:tabLst>
                <a:tab pos="457200" algn="l"/>
              </a:tabLst>
            </a:pPr>
            <a:r>
              <a:rPr lang="en-US" sz="1750" dirty="0">
                <a:solidFill>
                  <a:srgbClr val="272525"/>
                </a:solidFill>
                <a:latin typeface="Monster"/>
                <a:ea typeface="Roboto"/>
                <a:cs typeface="Montserrat" pitchFamily="34" charset="-120"/>
              </a:rPr>
              <a:t> </a:t>
            </a:r>
            <a:r>
              <a:rPr lang="en-US" sz="1750" dirty="0" smtClean="0">
                <a:solidFill>
                  <a:srgbClr val="272525"/>
                </a:solidFill>
                <a:latin typeface="Monster"/>
                <a:ea typeface="Roboto"/>
                <a:cs typeface="Montserrat" pitchFamily="34" charset="-120"/>
              </a:rPr>
              <a:t>              health </a:t>
            </a:r>
            <a:r>
              <a:rPr lang="en-US" sz="1750" dirty="0">
                <a:solidFill>
                  <a:srgbClr val="272525"/>
                </a:solidFill>
                <a:latin typeface="Monster"/>
                <a:ea typeface="Roboto"/>
                <a:cs typeface="Montserrat" pitchFamily="34" charset="-120"/>
              </a:rPr>
              <a:t>issues and required </a:t>
            </a:r>
            <a:r>
              <a:rPr lang="en-US" sz="1750" dirty="0" smtClean="0">
                <a:solidFill>
                  <a:srgbClr val="272525"/>
                </a:solidFill>
                <a:latin typeface="Monster"/>
                <a:ea typeface="Roboto"/>
                <a:cs typeface="Montserrat" pitchFamily="34" charset="-120"/>
              </a:rPr>
              <a:t>treatments.</a:t>
            </a:r>
          </a:p>
          <a:p>
            <a:pPr marR="0" lvl="0">
              <a:lnSpc>
                <a:spcPct val="90000"/>
              </a:lnSpc>
              <a:spcBef>
                <a:spcPct val="20000"/>
              </a:spcBef>
              <a:spcAft>
                <a:spcPts val="600"/>
              </a:spcAft>
              <a:buClr>
                <a:schemeClr val="tx2"/>
              </a:buClr>
              <a:buSzPct val="70000"/>
              <a:tabLst>
                <a:tab pos="457200" algn="l"/>
              </a:tabLst>
            </a:pPr>
            <a:r>
              <a:rPr lang="en-US" sz="1750" dirty="0">
                <a:solidFill>
                  <a:srgbClr val="272525"/>
                </a:solidFill>
                <a:ea typeface="Roboto"/>
                <a:cs typeface="Montserrat" pitchFamily="34" charset="-120"/>
              </a:rPr>
              <a:t> </a:t>
            </a:r>
            <a:r>
              <a:rPr lang="en-US" sz="1750" dirty="0" smtClean="0">
                <a:solidFill>
                  <a:srgbClr val="272525"/>
                </a:solidFill>
                <a:ea typeface="Roboto"/>
                <a:cs typeface="Montserrat" pitchFamily="34" charset="-120"/>
              </a:rPr>
              <a:t>            </a:t>
            </a:r>
            <a:r>
              <a:rPr lang="en-US" sz="3200"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rPr>
              <a:t>2. Gender:</a:t>
            </a:r>
          </a:p>
          <a:p>
            <a:pPr>
              <a:lnSpc>
                <a:spcPct val="90000"/>
              </a:lnSpc>
              <a:spcBef>
                <a:spcPct val="20000"/>
              </a:spcBef>
              <a:spcAft>
                <a:spcPts val="600"/>
              </a:spcAft>
              <a:buClr>
                <a:schemeClr val="tx2"/>
              </a:buClr>
              <a:buSzPct val="70000"/>
              <a:tabLst>
                <a:tab pos="457200" algn="l"/>
              </a:tabLst>
            </a:pPr>
            <a:r>
              <a:rPr lang="en-US" sz="3200" b="1" dirty="0">
                <a:ln>
                  <a:solidFill>
                    <a:schemeClr val="bg1">
                      <a:lumMod val="75000"/>
                      <a:lumOff val="25000"/>
                      <a:alpha val="10000"/>
                    </a:schemeClr>
                  </a:solidFill>
                </a:ln>
                <a:effectLst>
                  <a:outerShdw blurRad="9525" dist="25400" dir="14640000" algn="tl" rotWithShape="0">
                    <a:schemeClr val="bg1">
                      <a:alpha val="30000"/>
                    </a:schemeClr>
                  </a:outerShdw>
                </a:effectLst>
                <a:ea typeface="Roboto"/>
                <a:cs typeface="Montserrat" pitchFamily="34" charset="-120"/>
              </a:rPr>
              <a:t> </a:t>
            </a:r>
            <a:r>
              <a:rPr lang="en-US" sz="3200" b="1" dirty="0" smtClean="0">
                <a:ln>
                  <a:solidFill>
                    <a:schemeClr val="bg1">
                      <a:lumMod val="75000"/>
                      <a:lumOff val="25000"/>
                      <a:alpha val="10000"/>
                    </a:schemeClr>
                  </a:solidFill>
                </a:ln>
                <a:effectLst>
                  <a:outerShdw blurRad="9525" dist="25400" dir="14640000" algn="tl" rotWithShape="0">
                    <a:schemeClr val="bg1">
                      <a:alpha val="30000"/>
                    </a:schemeClr>
                  </a:outerShdw>
                </a:effectLst>
                <a:ea typeface="Roboto"/>
                <a:cs typeface="Montserrat" pitchFamily="34" charset="-120"/>
              </a:rPr>
              <a:t>        </a:t>
            </a:r>
            <a:r>
              <a:rPr lang="en-US" sz="1750" dirty="0">
                <a:latin typeface="Monster"/>
                <a:ea typeface="Roboto"/>
                <a:cs typeface="Montserrat" pitchFamily="34" charset="-120"/>
              </a:rPr>
              <a:t>Explore how gender influences healthcare utilization and costs, focusing on gender-specific health concerns</a:t>
            </a:r>
            <a:r>
              <a:rPr lang="en-US" sz="1750" dirty="0">
                <a:latin typeface="Roboto"/>
                <a:ea typeface="Roboto"/>
                <a:cs typeface="Montserrat" pitchFamily="34" charset="-120"/>
              </a:rPr>
              <a:t>.</a:t>
            </a:r>
            <a:endParaRPr lang="en-US" sz="1750" dirty="0">
              <a:latin typeface="Roboto"/>
              <a:ea typeface="Roboto"/>
            </a:endParaRPr>
          </a:p>
          <a:p>
            <a:pPr marR="0" lvl="0">
              <a:lnSpc>
                <a:spcPct val="90000"/>
              </a:lnSpc>
              <a:spcBef>
                <a:spcPct val="20000"/>
              </a:spcBef>
              <a:spcAft>
                <a:spcPts val="600"/>
              </a:spcAft>
              <a:buClr>
                <a:schemeClr val="tx2"/>
              </a:buClr>
              <a:buSzPct val="70000"/>
              <a:tabLst>
                <a:tab pos="457200" algn="l"/>
              </a:tabLst>
            </a:pPr>
            <a:r>
              <a:rPr lang="en-US" sz="3200" dirty="0" smtClean="0">
                <a:solidFill>
                  <a:srgbClr val="272525"/>
                </a:solidFill>
                <a:ea typeface="Roboto"/>
                <a:cs typeface="Montserrat" pitchFamily="34" charset="-120"/>
              </a:rPr>
              <a:t>       </a:t>
            </a:r>
            <a:r>
              <a:rPr lang="en-US" sz="3200" b="1" dirty="0" smtClean="0">
                <a:solidFill>
                  <a:srgbClr val="272525"/>
                </a:solidFill>
                <a:ea typeface="Roboto"/>
                <a:cs typeface="Montserrat" pitchFamily="34" charset="-120"/>
              </a:rPr>
              <a:t>3. Health Profile:</a:t>
            </a:r>
          </a:p>
          <a:p>
            <a:pPr>
              <a:lnSpc>
                <a:spcPct val="90000"/>
              </a:lnSpc>
              <a:spcBef>
                <a:spcPct val="20000"/>
              </a:spcBef>
              <a:spcAft>
                <a:spcPts val="600"/>
              </a:spcAft>
              <a:buClr>
                <a:schemeClr val="tx2"/>
              </a:buClr>
              <a:buSzPct val="70000"/>
              <a:tabLst>
                <a:tab pos="457200" algn="l"/>
              </a:tabLst>
            </a:pPr>
            <a:r>
              <a:rPr lang="en-US" sz="1750" b="1" dirty="0">
                <a:solidFill>
                  <a:srgbClr val="272525"/>
                </a:solidFill>
                <a:latin typeface="Monster"/>
                <a:ea typeface="Roboto"/>
                <a:cs typeface="Montserrat" pitchFamily="34" charset="-120"/>
              </a:rPr>
              <a:t> </a:t>
            </a:r>
            <a:r>
              <a:rPr lang="en-US" sz="1750" b="1" dirty="0" smtClean="0">
                <a:solidFill>
                  <a:srgbClr val="272525"/>
                </a:solidFill>
                <a:latin typeface="Monster"/>
                <a:ea typeface="Roboto"/>
                <a:cs typeface="Montserrat" pitchFamily="34" charset="-120"/>
              </a:rPr>
              <a:t>              </a:t>
            </a:r>
            <a:r>
              <a:rPr lang="en-US" sz="1750" dirty="0">
                <a:solidFill>
                  <a:srgbClr val="272525"/>
                </a:solidFill>
                <a:latin typeface="Monster"/>
                <a:ea typeface="Roboto"/>
                <a:cs typeface="Montserrat" pitchFamily="34" charset="-120"/>
              </a:rPr>
              <a:t>Analyze the impact of BMI, smoking habits, and other health indicators on medical expenses</a:t>
            </a:r>
            <a:r>
              <a:rPr lang="en-US" sz="1750" dirty="0" smtClean="0">
                <a:solidFill>
                  <a:srgbClr val="272525"/>
                </a:solidFill>
                <a:latin typeface="Monster"/>
                <a:ea typeface="Roboto"/>
                <a:cs typeface="Montserrat" pitchFamily="34" charset="-120"/>
              </a:rPr>
              <a:t>.</a:t>
            </a:r>
          </a:p>
          <a:p>
            <a:pPr>
              <a:lnSpc>
                <a:spcPct val="90000"/>
              </a:lnSpc>
              <a:spcBef>
                <a:spcPct val="20000"/>
              </a:spcBef>
              <a:spcAft>
                <a:spcPts val="600"/>
              </a:spcAft>
              <a:buClr>
                <a:schemeClr val="tx2"/>
              </a:buClr>
              <a:buSzPct val="70000"/>
              <a:tabLst>
                <a:tab pos="457200" algn="l"/>
              </a:tabLst>
            </a:pPr>
            <a:r>
              <a:rPr lang="en-US" sz="1750" dirty="0">
                <a:solidFill>
                  <a:srgbClr val="272525"/>
                </a:solidFill>
                <a:ea typeface="Roboto"/>
              </a:rPr>
              <a:t> </a:t>
            </a:r>
            <a:r>
              <a:rPr lang="en-US" sz="1750" dirty="0" smtClean="0">
                <a:solidFill>
                  <a:srgbClr val="272525"/>
                </a:solidFill>
                <a:ea typeface="Roboto"/>
              </a:rPr>
              <a:t>           </a:t>
            </a:r>
            <a:r>
              <a:rPr lang="en-US" sz="3200" b="1" dirty="0" smtClean="0">
                <a:solidFill>
                  <a:srgbClr val="272525"/>
                </a:solidFill>
                <a:ea typeface="Roboto"/>
              </a:rPr>
              <a:t>4. Location:</a:t>
            </a:r>
          </a:p>
          <a:p>
            <a:pPr>
              <a:lnSpc>
                <a:spcPct val="90000"/>
              </a:lnSpc>
              <a:spcBef>
                <a:spcPct val="20000"/>
              </a:spcBef>
              <a:spcAft>
                <a:spcPts val="600"/>
              </a:spcAft>
              <a:buClr>
                <a:schemeClr val="tx2"/>
              </a:buClr>
              <a:buSzPct val="70000"/>
              <a:tabLst>
                <a:tab pos="457200" algn="l"/>
              </a:tabLst>
            </a:pPr>
            <a:r>
              <a:rPr lang="en-US" sz="3200" b="1" dirty="0">
                <a:solidFill>
                  <a:srgbClr val="272525"/>
                </a:solidFill>
                <a:ea typeface="Roboto"/>
              </a:rPr>
              <a:t> </a:t>
            </a:r>
            <a:r>
              <a:rPr lang="en-US" sz="3200" b="1" dirty="0" smtClean="0">
                <a:solidFill>
                  <a:srgbClr val="272525"/>
                </a:solidFill>
                <a:ea typeface="Roboto"/>
              </a:rPr>
              <a:t>        </a:t>
            </a:r>
            <a:r>
              <a:rPr lang="en-US" sz="1700" dirty="0">
                <a:solidFill>
                  <a:srgbClr val="272525"/>
                </a:solidFill>
                <a:latin typeface="Monster"/>
                <a:ea typeface="Montserrat" pitchFamily="34" charset="-122"/>
                <a:cs typeface="Montserrat" pitchFamily="34" charset="-120"/>
              </a:rPr>
              <a:t>Investigate the influence of region on medical costs, considering healthcare infrastructure and accessibility</a:t>
            </a:r>
            <a:endParaRPr lang="en-US" sz="1700" b="1" dirty="0">
              <a:latin typeface="Monster"/>
              <a:ea typeface="Roboto"/>
            </a:endParaRPr>
          </a:p>
          <a:p>
            <a:pPr marR="0" lvl="0">
              <a:lnSpc>
                <a:spcPct val="90000"/>
              </a:lnSpc>
              <a:spcBef>
                <a:spcPct val="20000"/>
              </a:spcBef>
              <a:spcAft>
                <a:spcPts val="600"/>
              </a:spcAft>
              <a:buClr>
                <a:schemeClr val="tx2"/>
              </a:buClr>
              <a:buSzPct val="70000"/>
              <a:tabLst>
                <a:tab pos="457200" algn="l"/>
              </a:tabLst>
            </a:pPr>
            <a:endParaRPr lang="en-US" sz="3200" b="1" dirty="0" smtClean="0">
              <a:solidFill>
                <a:srgbClr val="272525"/>
              </a:solidFill>
              <a:ea typeface="Roboto"/>
              <a:cs typeface="Montserrat" pitchFamily="34" charset="-120"/>
            </a:endParaRPr>
          </a:p>
        </p:txBody>
      </p:sp>
      <p:sp>
        <p:nvSpPr>
          <p:cNvPr id="4" name="Text 2"/>
          <p:cNvSpPr/>
          <p:nvPr/>
        </p:nvSpPr>
        <p:spPr>
          <a:xfrm>
            <a:off x="2037993" y="698659"/>
            <a:ext cx="9090660" cy="694373"/>
          </a:xfrm>
          <a:prstGeom prst="rect">
            <a:avLst/>
          </a:prstGeom>
          <a:noFill/>
          <a:ln/>
        </p:spPr>
        <p:txBody>
          <a:bodyPr wrap="none" rtlCol="0" anchor="t"/>
          <a:lstStyle/>
          <a:p>
            <a:pPr marL="0" indent="0">
              <a:lnSpc>
                <a:spcPts val="5468"/>
              </a:lnSpc>
              <a:buNone/>
            </a:pPr>
            <a:endParaRPr lang="en-US" sz="4374" dirty="0"/>
          </a:p>
        </p:txBody>
      </p:sp>
      <p:sp>
        <p:nvSpPr>
          <p:cNvPr id="6" name="Text 3"/>
          <p:cNvSpPr/>
          <p:nvPr/>
        </p:nvSpPr>
        <p:spPr>
          <a:xfrm>
            <a:off x="2037993" y="5273516"/>
            <a:ext cx="3855720" cy="347186"/>
          </a:xfrm>
          <a:prstGeom prst="rect">
            <a:avLst/>
          </a:prstGeom>
          <a:noFill/>
          <a:ln/>
        </p:spPr>
        <p:txBody>
          <a:bodyPr wrap="none" rtlCol="0" anchor="t"/>
          <a:lstStyle/>
          <a:p>
            <a:pPr marL="0" indent="0" algn="l">
              <a:lnSpc>
                <a:spcPts val="2734"/>
              </a:lnSpc>
              <a:buNone/>
            </a:pPr>
            <a:endParaRPr lang="en-US" sz="2187" dirty="0" smtClean="0"/>
          </a:p>
        </p:txBody>
      </p:sp>
      <p:sp>
        <p:nvSpPr>
          <p:cNvPr id="7" name="Text 4"/>
          <p:cNvSpPr/>
          <p:nvPr/>
        </p:nvSpPr>
        <p:spPr>
          <a:xfrm>
            <a:off x="2037993" y="5753933"/>
            <a:ext cx="9900578" cy="1893770"/>
          </a:xfrm>
          <a:prstGeom prst="rect">
            <a:avLst/>
          </a:prstGeom>
          <a:noFill/>
          <a:ln/>
        </p:spPr>
        <p:txBody>
          <a:bodyPr wrap="square" rtlCol="0" anchor="t"/>
          <a:lstStyle/>
          <a:p>
            <a:pPr algn="l">
              <a:lnSpc>
                <a:spcPts val="2799"/>
              </a:lnSpc>
            </a:pPr>
            <a:endParaRPr lang="en-US" sz="2800" dirty="0"/>
          </a:p>
        </p:txBody>
      </p:sp>
      <p:sp>
        <p:nvSpPr>
          <p:cNvPr id="9" name="Text 5"/>
          <p:cNvSpPr/>
          <p:nvPr/>
        </p:nvSpPr>
        <p:spPr>
          <a:xfrm>
            <a:off x="7481768" y="5273635"/>
            <a:ext cx="3124200" cy="347186"/>
          </a:xfrm>
          <a:prstGeom prst="rect">
            <a:avLst/>
          </a:prstGeom>
          <a:noFill/>
          <a:ln/>
        </p:spPr>
        <p:txBody>
          <a:bodyPr wrap="none" rtlCol="0" anchor="t"/>
          <a:lstStyle/>
          <a:p>
            <a:pPr marL="0" indent="0" algn="l">
              <a:lnSpc>
                <a:spcPts val="2734"/>
              </a:lnSpc>
              <a:buNone/>
            </a:pPr>
            <a:endParaRPr lang="en-US" sz="2187" dirty="0"/>
          </a:p>
        </p:txBody>
      </p:sp>
      <p:sp>
        <p:nvSpPr>
          <p:cNvPr id="10" name="Text 6"/>
          <p:cNvSpPr/>
          <p:nvPr/>
        </p:nvSpPr>
        <p:spPr>
          <a:xfrm>
            <a:off x="7481768" y="5754053"/>
            <a:ext cx="5110639" cy="1421606"/>
          </a:xfrm>
          <a:prstGeom prst="rect">
            <a:avLst/>
          </a:prstGeom>
          <a:noFill/>
          <a:ln/>
        </p:spPr>
        <p:txBody>
          <a:bodyPr wrap="square" rtlCol="0" anchor="t"/>
          <a:lstStyle/>
          <a:p>
            <a:pPr marL="0" indent="0" algn="l">
              <a:lnSpc>
                <a:spcPts val="2799"/>
              </a:lnSpc>
              <a:buNone/>
            </a:pPr>
            <a:endParaRPr lang="en-US" sz="17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67068"/>
            <a:ext cx="14630400" cy="8229600"/>
          </a:xfrm>
          <a:prstGeom prst="rect">
            <a:avLst/>
          </a:prstGeom>
          <a:solidFill>
            <a:srgbClr val="FFFFFF">
              <a:alpha val="75000"/>
            </a:srgbClr>
          </a:solidFill>
          <a:ln/>
        </p:spPr>
      </p:sp>
      <p:sp>
        <p:nvSpPr>
          <p:cNvPr id="5" name="Text 2"/>
          <p:cNvSpPr/>
          <p:nvPr/>
        </p:nvSpPr>
        <p:spPr>
          <a:xfrm>
            <a:off x="585627" y="770562"/>
            <a:ext cx="9086772" cy="544530"/>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Data set </a:t>
            </a:r>
            <a:r>
              <a:rPr lang="en-US" sz="4374" dirty="0" smtClean="0">
                <a:solidFill>
                  <a:srgbClr val="1B1B27"/>
                </a:solidFill>
                <a:latin typeface="Raleway" pitchFamily="34" charset="0"/>
                <a:ea typeface="Raleway" pitchFamily="34" charset="-122"/>
                <a:cs typeface="Raleway" pitchFamily="34" charset="-120"/>
              </a:rPr>
              <a:t>information</a:t>
            </a:r>
            <a:endParaRPr lang="en-US" sz="4374" dirty="0"/>
          </a:p>
        </p:txBody>
      </p:sp>
      <p:sp>
        <p:nvSpPr>
          <p:cNvPr id="6" name="Shape 3"/>
          <p:cNvSpPr/>
          <p:nvPr/>
        </p:nvSpPr>
        <p:spPr>
          <a:xfrm>
            <a:off x="314627" y="2188395"/>
            <a:ext cx="8767728" cy="2583666"/>
          </a:xfrm>
          <a:prstGeom prst="roundRect">
            <a:avLst>
              <a:gd name="adj" fmla="val 4953"/>
            </a:avLst>
          </a:prstGeom>
          <a:solidFill>
            <a:srgbClr val="E1E1EA"/>
          </a:solidFill>
          <a:ln w="13811">
            <a:solidFill>
              <a:srgbClr val="C7C7D0"/>
            </a:solidFill>
            <a:prstDash val="solid"/>
          </a:ln>
        </p:spPr>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Dataset Content</a:t>
            </a:r>
            <a:endParaRPr lang="en-US" sz="2187" dirty="0"/>
          </a:p>
        </p:txBody>
      </p:sp>
      <p:sp>
        <p:nvSpPr>
          <p:cNvPr id="8" name="Text 5"/>
          <p:cNvSpPr/>
          <p:nvPr/>
        </p:nvSpPr>
        <p:spPr>
          <a:xfrm>
            <a:off x="287677" y="2650734"/>
            <a:ext cx="8702212" cy="1417832"/>
          </a:xfrm>
          <a:prstGeom prst="rect">
            <a:avLst/>
          </a:prstGeom>
          <a:noFill/>
          <a:ln/>
        </p:spPr>
        <p:txBody>
          <a:bodyPr wrap="square" rtlCol="0" anchor="t"/>
          <a:lstStyle/>
          <a:p>
            <a:pPr>
              <a:lnSpc>
                <a:spcPts val="2799"/>
              </a:lnSpc>
            </a:pPr>
            <a:r>
              <a:rPr lang="en-US" sz="1750" dirty="0">
                <a:solidFill>
                  <a:srgbClr val="3C3939"/>
                </a:solidFill>
                <a:ea typeface="Roboto" pitchFamily="34" charset="-122"/>
                <a:cs typeface="Roboto" pitchFamily="34" charset="-120"/>
              </a:rPr>
              <a:t>The dataset used in this project is related to insurance and healthcare. It contains information on individuals, including features such as age, gender, BMI, number of children, smoking habits, region, and medical expenses (charges</a:t>
            </a:r>
            <a:r>
              <a:rPr lang="en-US" sz="1750" dirty="0" smtClean="0">
                <a:solidFill>
                  <a:srgbClr val="3C3939"/>
                </a:solidFill>
                <a:ea typeface="Roboto" pitchFamily="34" charset="-122"/>
                <a:cs typeface="Roboto" pitchFamily="34" charset="-120"/>
              </a:rPr>
              <a:t>).</a:t>
            </a:r>
            <a:r>
              <a:rPr lang="en-US" sz="1750" dirty="0">
                <a:ln>
                  <a:solidFill>
                    <a:schemeClr val="bg1">
                      <a:lumMod val="75000"/>
                      <a:lumOff val="25000"/>
                      <a:alpha val="10000"/>
                    </a:schemeClr>
                  </a:solidFill>
                </a:ln>
                <a:effectLst>
                  <a:outerShdw blurRad="9525" dist="25400" dir="14640000" algn="tl" rotWithShape="0">
                    <a:schemeClr val="bg1">
                      <a:alpha val="30000"/>
                    </a:schemeClr>
                  </a:outerShdw>
                </a:effectLst>
              </a:rPr>
              <a:t> Utilization of describe(), info() and head() functions to get overview of data</a:t>
            </a:r>
          </a:p>
          <a:p>
            <a:pPr marL="0" indent="0">
              <a:lnSpc>
                <a:spcPts val="2799"/>
              </a:lnSpc>
              <a:buNone/>
            </a:pPr>
            <a:endParaRPr lang="en-US" sz="1750" dirty="0" smtClean="0">
              <a:solidFill>
                <a:srgbClr val="3C3939"/>
              </a:solidFill>
              <a:latin typeface="Roboto" pitchFamily="34" charset="0"/>
              <a:ea typeface="Roboto" pitchFamily="34" charset="-122"/>
              <a:cs typeface="Roboto" pitchFamily="34" charset="-12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6078" y="2157572"/>
            <a:ext cx="4680599" cy="293327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79979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FFFFF">
              <a:alpha val="85000"/>
            </a:srgbClr>
          </a:solidFill>
          <a:ln/>
        </p:spPr>
      </p:sp>
      <p:sp>
        <p:nvSpPr>
          <p:cNvPr id="6" name="Text 3"/>
          <p:cNvSpPr/>
          <p:nvPr/>
        </p:nvSpPr>
        <p:spPr>
          <a:xfrm>
            <a:off x="2037993" y="747713"/>
            <a:ext cx="4443889"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Methodology</a:t>
            </a:r>
            <a:endParaRPr lang="en-US" sz="4374" dirty="0"/>
          </a:p>
        </p:txBody>
      </p:sp>
      <p:sp>
        <p:nvSpPr>
          <p:cNvPr id="7" name="Shape 4"/>
          <p:cNvSpPr/>
          <p:nvPr/>
        </p:nvSpPr>
        <p:spPr>
          <a:xfrm>
            <a:off x="2349103" y="1775341"/>
            <a:ext cx="44410" cy="5706427"/>
          </a:xfrm>
          <a:prstGeom prst="roundRect">
            <a:avLst>
              <a:gd name="adj" fmla="val 225151"/>
            </a:avLst>
          </a:prstGeom>
          <a:solidFill>
            <a:srgbClr val="C7C7D0"/>
          </a:solidFill>
          <a:ln/>
        </p:spPr>
      </p:sp>
      <p:sp>
        <p:nvSpPr>
          <p:cNvPr id="8" name="Shape 5"/>
          <p:cNvSpPr/>
          <p:nvPr/>
        </p:nvSpPr>
        <p:spPr>
          <a:xfrm>
            <a:off x="2621220" y="2176641"/>
            <a:ext cx="777597" cy="44410"/>
          </a:xfrm>
          <a:prstGeom prst="roundRect">
            <a:avLst>
              <a:gd name="adj" fmla="val 225151"/>
            </a:avLst>
          </a:prstGeom>
          <a:solidFill>
            <a:srgbClr val="C7C7D0"/>
          </a:solidFill>
          <a:ln/>
        </p:spPr>
      </p:sp>
      <p:sp>
        <p:nvSpPr>
          <p:cNvPr id="9" name="Shape 6"/>
          <p:cNvSpPr/>
          <p:nvPr/>
        </p:nvSpPr>
        <p:spPr>
          <a:xfrm>
            <a:off x="2121277" y="1948934"/>
            <a:ext cx="499943" cy="499943"/>
          </a:xfrm>
          <a:prstGeom prst="roundRect">
            <a:avLst>
              <a:gd name="adj" fmla="val 20000"/>
            </a:avLst>
          </a:prstGeom>
          <a:solidFill>
            <a:srgbClr val="E1E1EA"/>
          </a:solidFill>
          <a:ln w="13811">
            <a:solidFill>
              <a:srgbClr val="C7C7D0"/>
            </a:solidFill>
            <a:prstDash val="solid"/>
          </a:ln>
        </p:spPr>
      </p:sp>
      <p:sp>
        <p:nvSpPr>
          <p:cNvPr id="10" name="Text 7"/>
          <p:cNvSpPr/>
          <p:nvPr/>
        </p:nvSpPr>
        <p:spPr>
          <a:xfrm>
            <a:off x="2298799" y="1990606"/>
            <a:ext cx="144780"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1</a:t>
            </a:r>
            <a:endParaRPr lang="en-US" sz="2624" dirty="0"/>
          </a:p>
        </p:txBody>
      </p:sp>
      <p:sp>
        <p:nvSpPr>
          <p:cNvPr id="11" name="Text 8"/>
          <p:cNvSpPr/>
          <p:nvPr/>
        </p:nvSpPr>
        <p:spPr>
          <a:xfrm>
            <a:off x="3593306" y="1997512"/>
            <a:ext cx="3977640"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Exploratory Data Analysis (EDA)</a:t>
            </a:r>
            <a:endParaRPr lang="en-US" sz="2187" dirty="0"/>
          </a:p>
        </p:txBody>
      </p:sp>
      <p:sp>
        <p:nvSpPr>
          <p:cNvPr id="12" name="Text 9"/>
          <p:cNvSpPr/>
          <p:nvPr/>
        </p:nvSpPr>
        <p:spPr>
          <a:xfrm>
            <a:off x="3213899" y="2588921"/>
            <a:ext cx="8999101" cy="1066205"/>
          </a:xfrm>
          <a:prstGeom prst="rect">
            <a:avLst/>
          </a:prstGeom>
          <a:noFill/>
          <a:ln/>
        </p:spPr>
        <p:txBody>
          <a:bodyPr wrap="square" rtlCol="0" anchor="t"/>
          <a:lstStyle/>
          <a:p>
            <a:pPr marL="0" indent="0" algn="l">
              <a:lnSpc>
                <a:spcPts val="2799"/>
              </a:lnSpc>
              <a:buNone/>
            </a:pPr>
            <a:r>
              <a:rPr lang="en-US" sz="1750" dirty="0">
                <a:solidFill>
                  <a:srgbClr val="3C3939"/>
                </a:solidFill>
                <a:latin typeface="Monster"/>
                <a:ea typeface="Roboto" pitchFamily="34" charset="-122"/>
                <a:cs typeface="Roboto" pitchFamily="34" charset="-120"/>
              </a:rPr>
              <a:t>Utilize visualizations (histograms, count plots, box plots, scatter plots) to understand the distribution of age, gender, BMI, children, region, smoking habits, and charges. Analyze the relationships between medical expenses and other features</a:t>
            </a:r>
            <a:r>
              <a:rPr lang="en-US" sz="1750" dirty="0">
                <a:solidFill>
                  <a:srgbClr val="3C3939"/>
                </a:solidFill>
                <a:latin typeface="Roboto" pitchFamily="34" charset="0"/>
                <a:ea typeface="Roboto" pitchFamily="34" charset="-122"/>
                <a:cs typeface="Roboto" pitchFamily="34" charset="-120"/>
              </a:rPr>
              <a:t>.</a:t>
            </a:r>
            <a:endParaRPr lang="en-US" sz="1750" dirty="0"/>
          </a:p>
        </p:txBody>
      </p:sp>
      <p:sp>
        <p:nvSpPr>
          <p:cNvPr id="13" name="Shape 10"/>
          <p:cNvSpPr/>
          <p:nvPr/>
        </p:nvSpPr>
        <p:spPr>
          <a:xfrm>
            <a:off x="2621220" y="4389775"/>
            <a:ext cx="777597" cy="44410"/>
          </a:xfrm>
          <a:prstGeom prst="roundRect">
            <a:avLst>
              <a:gd name="adj" fmla="val 225151"/>
            </a:avLst>
          </a:prstGeom>
          <a:solidFill>
            <a:srgbClr val="C7C7D0"/>
          </a:solidFill>
          <a:ln/>
        </p:spPr>
      </p:sp>
      <p:sp>
        <p:nvSpPr>
          <p:cNvPr id="14" name="Shape 11"/>
          <p:cNvSpPr/>
          <p:nvPr/>
        </p:nvSpPr>
        <p:spPr>
          <a:xfrm>
            <a:off x="2121277" y="4162068"/>
            <a:ext cx="499943" cy="499943"/>
          </a:xfrm>
          <a:prstGeom prst="roundRect">
            <a:avLst>
              <a:gd name="adj" fmla="val 20000"/>
            </a:avLst>
          </a:prstGeom>
          <a:solidFill>
            <a:srgbClr val="E1E1EA"/>
          </a:solidFill>
          <a:ln w="13811">
            <a:solidFill>
              <a:srgbClr val="C7C7D0"/>
            </a:solidFill>
            <a:prstDash val="solid"/>
          </a:ln>
        </p:spPr>
      </p:sp>
      <p:sp>
        <p:nvSpPr>
          <p:cNvPr id="15" name="Text 12"/>
          <p:cNvSpPr/>
          <p:nvPr/>
        </p:nvSpPr>
        <p:spPr>
          <a:xfrm>
            <a:off x="2283559" y="4203740"/>
            <a:ext cx="175260"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2</a:t>
            </a:r>
            <a:endParaRPr lang="en-US" sz="2624" dirty="0"/>
          </a:p>
        </p:txBody>
      </p:sp>
      <p:sp>
        <p:nvSpPr>
          <p:cNvPr id="16" name="Text 13"/>
          <p:cNvSpPr/>
          <p:nvPr/>
        </p:nvSpPr>
        <p:spPr>
          <a:xfrm>
            <a:off x="3593306" y="4210645"/>
            <a:ext cx="2461260"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Data Preprocessing</a:t>
            </a:r>
            <a:endParaRPr lang="en-US" sz="2187" dirty="0"/>
          </a:p>
        </p:txBody>
      </p:sp>
      <p:sp>
        <p:nvSpPr>
          <p:cNvPr id="17" name="Text 14"/>
          <p:cNvSpPr/>
          <p:nvPr/>
        </p:nvSpPr>
        <p:spPr>
          <a:xfrm>
            <a:off x="3593306" y="4691063"/>
            <a:ext cx="8999101" cy="710803"/>
          </a:xfrm>
          <a:prstGeom prst="rect">
            <a:avLst/>
          </a:prstGeom>
          <a:noFill/>
          <a:ln/>
        </p:spPr>
        <p:txBody>
          <a:bodyPr wrap="square" rtlCol="0" anchor="t"/>
          <a:lstStyle/>
          <a:p>
            <a:pPr marL="0" indent="0" algn="l">
              <a:lnSpc>
                <a:spcPts val="2799"/>
              </a:lnSpc>
              <a:buNone/>
            </a:pPr>
            <a:r>
              <a:rPr lang="en-US" sz="1750" dirty="0">
                <a:solidFill>
                  <a:srgbClr val="3C3939"/>
                </a:solidFill>
                <a:latin typeface="Monster"/>
                <a:ea typeface="Roboto" pitchFamily="34" charset="-122"/>
                <a:cs typeface="Roboto" pitchFamily="34" charset="-120"/>
              </a:rPr>
              <a:t>Convert categorical variables (gender, smoking habits, region) into numerical form. Split the dataset into training and testing sets.</a:t>
            </a:r>
            <a:endParaRPr lang="en-US" sz="1750" dirty="0">
              <a:latin typeface="Monster"/>
            </a:endParaRPr>
          </a:p>
        </p:txBody>
      </p:sp>
      <p:sp>
        <p:nvSpPr>
          <p:cNvPr id="18" name="Shape 15"/>
          <p:cNvSpPr/>
          <p:nvPr/>
        </p:nvSpPr>
        <p:spPr>
          <a:xfrm>
            <a:off x="2621220" y="6247507"/>
            <a:ext cx="777597" cy="44410"/>
          </a:xfrm>
          <a:prstGeom prst="roundRect">
            <a:avLst>
              <a:gd name="adj" fmla="val 225151"/>
            </a:avLst>
          </a:prstGeom>
          <a:solidFill>
            <a:srgbClr val="C7C7D0"/>
          </a:solidFill>
          <a:ln/>
        </p:spPr>
      </p:sp>
      <p:sp>
        <p:nvSpPr>
          <p:cNvPr id="19" name="Shape 16"/>
          <p:cNvSpPr/>
          <p:nvPr/>
        </p:nvSpPr>
        <p:spPr>
          <a:xfrm>
            <a:off x="2121277" y="6019800"/>
            <a:ext cx="499943" cy="499943"/>
          </a:xfrm>
          <a:prstGeom prst="roundRect">
            <a:avLst>
              <a:gd name="adj" fmla="val 20000"/>
            </a:avLst>
          </a:prstGeom>
          <a:solidFill>
            <a:srgbClr val="E1E1EA"/>
          </a:solidFill>
          <a:ln w="13811">
            <a:solidFill>
              <a:srgbClr val="C7C7D0"/>
            </a:solidFill>
            <a:prstDash val="solid"/>
          </a:ln>
        </p:spPr>
      </p:sp>
      <p:sp>
        <p:nvSpPr>
          <p:cNvPr id="20" name="Text 17"/>
          <p:cNvSpPr/>
          <p:nvPr/>
        </p:nvSpPr>
        <p:spPr>
          <a:xfrm>
            <a:off x="2279749" y="6061472"/>
            <a:ext cx="182880"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3</a:t>
            </a:r>
            <a:endParaRPr lang="en-US" sz="2624" dirty="0"/>
          </a:p>
        </p:txBody>
      </p:sp>
      <p:sp>
        <p:nvSpPr>
          <p:cNvPr id="21" name="Text 18"/>
          <p:cNvSpPr/>
          <p:nvPr/>
        </p:nvSpPr>
        <p:spPr>
          <a:xfrm>
            <a:off x="3593306" y="6068378"/>
            <a:ext cx="2221944"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Model Building</a:t>
            </a:r>
            <a:endParaRPr lang="en-US" sz="2187" dirty="0"/>
          </a:p>
        </p:txBody>
      </p:sp>
      <p:sp>
        <p:nvSpPr>
          <p:cNvPr id="22" name="Text 19"/>
          <p:cNvSpPr/>
          <p:nvPr/>
        </p:nvSpPr>
        <p:spPr>
          <a:xfrm>
            <a:off x="3593306" y="6548795"/>
            <a:ext cx="8999101" cy="710803"/>
          </a:xfrm>
          <a:prstGeom prst="rect">
            <a:avLst/>
          </a:prstGeom>
          <a:noFill/>
          <a:ln/>
        </p:spPr>
        <p:txBody>
          <a:bodyPr wrap="square" rtlCol="0" anchor="t"/>
          <a:lstStyle/>
          <a:p>
            <a:pPr marL="0" indent="0" algn="l">
              <a:lnSpc>
                <a:spcPts val="2799"/>
              </a:lnSpc>
              <a:buNone/>
            </a:pPr>
            <a:r>
              <a:rPr lang="en-US" sz="1750" dirty="0">
                <a:solidFill>
                  <a:srgbClr val="3C3939"/>
                </a:solidFill>
                <a:latin typeface="Monster"/>
                <a:ea typeface="Roboto" pitchFamily="34" charset="-122"/>
                <a:cs typeface="Roboto" pitchFamily="34" charset="-120"/>
              </a:rPr>
              <a:t>Implement Linear Regression and Decision Tree Regression models to predict medical expenses. Train the models using the training dataset.</a:t>
            </a:r>
            <a:endParaRPr lang="en-US" sz="1750" dirty="0">
              <a:latin typeface="Monste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452970"/>
            <a:ext cx="14630400" cy="8658648"/>
          </a:xfrm>
          <a:prstGeom prst="rect">
            <a:avLst/>
          </a:prstGeom>
          <a:solidFill>
            <a:srgbClr val="FFFFFF">
              <a:alpha val="75000"/>
            </a:srgbClr>
          </a:solidFill>
          <a:ln/>
        </p:spPr>
      </p:sp>
      <p:sp>
        <p:nvSpPr>
          <p:cNvPr id="5" name="Text 2"/>
          <p:cNvSpPr/>
          <p:nvPr/>
        </p:nvSpPr>
        <p:spPr>
          <a:xfrm>
            <a:off x="585627" y="678093"/>
            <a:ext cx="3821986" cy="821933"/>
          </a:xfrm>
          <a:prstGeom prst="rect">
            <a:avLst/>
          </a:prstGeom>
          <a:noFill/>
          <a:ln/>
        </p:spPr>
        <p:txBody>
          <a:bodyPr wrap="none" rtlCol="0" anchor="t"/>
          <a:lstStyle/>
          <a:p>
            <a:pPr marL="0" indent="0">
              <a:lnSpc>
                <a:spcPts val="5468"/>
              </a:lnSpc>
              <a:buNone/>
            </a:pPr>
            <a:r>
              <a:rPr lang="en-US" sz="4374" dirty="0" smtClean="0">
                <a:solidFill>
                  <a:srgbClr val="1B1B27"/>
                </a:solidFill>
                <a:latin typeface="Raleway" pitchFamily="34" charset="0"/>
                <a:ea typeface="Raleway" pitchFamily="34" charset="-122"/>
              </a:rPr>
              <a:t>Visualization:</a:t>
            </a:r>
            <a:endParaRPr lang="en-US" sz="4374" dirty="0"/>
          </a:p>
        </p:txBody>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endParaRPr lang="en-US" sz="2187" dirty="0"/>
          </a:p>
        </p:txBody>
      </p:sp>
      <p:sp>
        <p:nvSpPr>
          <p:cNvPr id="8" name="Text 5"/>
          <p:cNvSpPr/>
          <p:nvPr/>
        </p:nvSpPr>
        <p:spPr>
          <a:xfrm>
            <a:off x="184731" y="2188395"/>
            <a:ext cx="6123601" cy="3893905"/>
          </a:xfrm>
          <a:prstGeom prst="rect">
            <a:avLst/>
          </a:prstGeom>
          <a:noFill/>
          <a:ln/>
        </p:spPr>
        <p:txBody>
          <a:bodyPr wrap="square" rtlCol="0" anchor="t"/>
          <a:lstStyle/>
          <a:p>
            <a:pPr algn="just"/>
            <a:r>
              <a:rPr lang="en-US" sz="1600" dirty="0"/>
              <a:t> </a:t>
            </a:r>
            <a:r>
              <a:rPr lang="en-US" sz="1750" kern="100" dirty="0">
                <a:latin typeface="Monster"/>
                <a:ea typeface="Aptos" panose="020B0004020202020204" pitchFamily="34" charset="0"/>
                <a:cs typeface="Times New Roman" panose="02020603050405020304" pitchFamily="18" charset="0"/>
              </a:rPr>
              <a:t>Visualize data using pandas, </a:t>
            </a:r>
            <a:r>
              <a:rPr lang="en-US" sz="1750" kern="100" dirty="0">
                <a:latin typeface="Monster"/>
                <a:ea typeface="Aptos" panose="020B0004020202020204" pitchFamily="34" charset="0"/>
                <a:cs typeface="Times New Roman" panose="02020603050405020304" pitchFamily="18" charset="0"/>
              </a:rPr>
              <a:t>seaborn</a:t>
            </a:r>
            <a:r>
              <a:rPr lang="en-US" sz="1750" kern="100" dirty="0">
                <a:latin typeface="Monster"/>
                <a:ea typeface="Aptos" panose="020B0004020202020204" pitchFamily="34" charset="0"/>
                <a:cs typeface="Times New Roman" panose="02020603050405020304" pitchFamily="18" charset="0"/>
              </a:rPr>
              <a:t> and additional libraries to </a:t>
            </a:r>
            <a:r>
              <a:rPr lang="en-US" sz="1750" kern="100" dirty="0" smtClean="0">
                <a:latin typeface="Monster"/>
                <a:ea typeface="Aptos" panose="020B0004020202020204" pitchFamily="34" charset="0"/>
                <a:cs typeface="Times New Roman" panose="02020603050405020304" pitchFamily="18" charset="0"/>
              </a:rPr>
              <a:t>understand the data</a:t>
            </a:r>
            <a:r>
              <a:rPr lang="en-US" sz="1750" kern="100" dirty="0" smtClean="0">
                <a:latin typeface="Monster"/>
                <a:ea typeface="Aptos" panose="020B0004020202020204" pitchFamily="34" charset="0"/>
                <a:cs typeface="Times New Roman" panose="02020603050405020304" pitchFamily="18" charset="0"/>
              </a:rPr>
              <a:t>.</a:t>
            </a:r>
          </a:p>
          <a:p>
            <a:pPr algn="just"/>
            <a:endParaRPr lang="en-US" sz="1750" kern="100" dirty="0" smtClean="0">
              <a:latin typeface="Monster"/>
              <a:ea typeface="Aptos" panose="020B0004020202020204" pitchFamily="34" charset="0"/>
              <a:cs typeface="Times New Roman" panose="02020603050405020304" pitchFamily="18" charset="0"/>
            </a:endParaRPr>
          </a:p>
          <a:p>
            <a:pPr algn="just"/>
            <a:r>
              <a:rPr lang="en-US" sz="1750" b="1" dirty="0">
                <a:solidFill>
                  <a:srgbClr val="3C3939"/>
                </a:solidFill>
                <a:latin typeface="Monster"/>
                <a:ea typeface="Roboto" pitchFamily="34" charset="-122"/>
                <a:cs typeface="Times New Roman" panose="02020603050405020304" pitchFamily="18" charset="0"/>
              </a:rPr>
              <a:t> </a:t>
            </a:r>
            <a:r>
              <a:rPr lang="en-US" b="1" dirty="0">
                <a:latin typeface="Monster"/>
              </a:rPr>
              <a:t>Age </a:t>
            </a:r>
            <a:r>
              <a:rPr lang="en-US" b="1" dirty="0" smtClean="0">
                <a:latin typeface="Monster"/>
              </a:rPr>
              <a:t>Distribution </a:t>
            </a:r>
            <a:r>
              <a:rPr lang="en-US" b="1" dirty="0">
                <a:latin typeface="Monster"/>
              </a:rPr>
              <a:t>Histogram with </a:t>
            </a:r>
            <a:r>
              <a:rPr lang="en-US" b="1" dirty="0" smtClean="0">
                <a:latin typeface="Monster"/>
              </a:rPr>
              <a:t>Count:</a:t>
            </a:r>
          </a:p>
          <a:p>
            <a:pPr algn="just"/>
            <a:r>
              <a:rPr lang="en-US" sz="1750" dirty="0" smtClean="0">
                <a:latin typeface="Monster"/>
              </a:rPr>
              <a:t>The </a:t>
            </a:r>
            <a:r>
              <a:rPr lang="en-US" sz="1750" dirty="0" smtClean="0">
                <a:latin typeface="Monster"/>
              </a:rPr>
              <a:t>hisplot</a:t>
            </a:r>
            <a:r>
              <a:rPr lang="en-US" sz="1750" dirty="0" smtClean="0">
                <a:latin typeface="Monster"/>
              </a:rPr>
              <a:t> function to generate a histogram displaying the age distribution from the age column in the data frame.</a:t>
            </a:r>
          </a:p>
          <a:p>
            <a:pPr algn="just"/>
            <a:endParaRPr lang="en-US" sz="1750" dirty="0" smtClean="0">
              <a:latin typeface="Monster"/>
            </a:endParaRPr>
          </a:p>
          <a:p>
            <a:pPr algn="just"/>
            <a:r>
              <a:rPr lang="en-US" b="1" dirty="0">
                <a:latin typeface="Monster"/>
              </a:rPr>
              <a:t>Gender Distribution </a:t>
            </a:r>
            <a:r>
              <a:rPr lang="en-US" b="1" dirty="0">
                <a:latin typeface="Monster"/>
              </a:rPr>
              <a:t>Countplot</a:t>
            </a:r>
            <a:r>
              <a:rPr lang="en-US" b="1" dirty="0">
                <a:latin typeface="Monster"/>
              </a:rPr>
              <a:t> with </a:t>
            </a:r>
            <a:r>
              <a:rPr lang="en-US" b="1" dirty="0" smtClean="0">
                <a:latin typeface="Monster"/>
              </a:rPr>
              <a:t>Legend:</a:t>
            </a:r>
          </a:p>
          <a:p>
            <a:pPr algn="just"/>
            <a:r>
              <a:rPr lang="en-US" sz="1750" dirty="0">
                <a:latin typeface="Monster"/>
              </a:rPr>
              <a:t>A </a:t>
            </a:r>
            <a:r>
              <a:rPr lang="en-US" sz="1750" dirty="0">
                <a:latin typeface="Monster"/>
              </a:rPr>
              <a:t>countplot</a:t>
            </a:r>
            <a:r>
              <a:rPr lang="en-US" sz="1750" dirty="0">
                <a:latin typeface="Monster"/>
              </a:rPr>
              <a:t> illustrating the distribution of genders (Male and Female) in the dataset, with a legend for clarity</a:t>
            </a:r>
            <a:r>
              <a:rPr lang="en-US" dirty="0" smtClean="0"/>
              <a:t>.“ </a:t>
            </a:r>
            <a:r>
              <a:rPr lang="en-US" sz="1750" dirty="0" smtClean="0">
                <a:latin typeface="Monster"/>
              </a:rPr>
              <a:t>From the graph we can clearly see that number of males and females are almost equal in the dataset</a:t>
            </a:r>
            <a:endParaRPr lang="en-US" sz="1750" b="1" dirty="0" smtClean="0">
              <a:latin typeface="Monster"/>
            </a:endParaRPr>
          </a:p>
          <a:p>
            <a:pPr algn="just"/>
            <a:endParaRPr lang="en-US" sz="1750" b="1" kern="100" dirty="0">
              <a:solidFill>
                <a:srgbClr val="3C3939"/>
              </a:solidFill>
              <a:latin typeface="Monster"/>
              <a:ea typeface="Roboto" pitchFamily="34" charset="-122"/>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1492" y="556121"/>
            <a:ext cx="5835843" cy="3264550"/>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725" y="4187455"/>
            <a:ext cx="5688610" cy="3651438"/>
          </a:xfrm>
          <a:prstGeom prst="rect">
            <a:avLst/>
          </a:prstGeom>
          <a:ln w="88900" cap="sq" cmpd="thickThin">
            <a:solidFill>
              <a:srgbClr val="000000"/>
            </a:solidFill>
            <a:prstDash val="solid"/>
            <a:miter lim="800000"/>
          </a:ln>
          <a:effectLst>
            <a:innerShdw blurRad="76200">
              <a:srgbClr val="000000"/>
            </a:innerShdw>
          </a:effectLst>
        </p:spPr>
      </p:pic>
      <p:sp>
        <p:nvSpPr>
          <p:cNvPr id="11"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94982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43934"/>
            <a:ext cx="14630400" cy="8658648"/>
          </a:xfrm>
          <a:prstGeom prst="rect">
            <a:avLst/>
          </a:prstGeom>
          <a:solidFill>
            <a:srgbClr val="FFFFFF">
              <a:alpha val="75000"/>
            </a:srgbClr>
          </a:solidFill>
          <a:ln/>
        </p:spPr>
      </p:sp>
      <p:sp>
        <p:nvSpPr>
          <p:cNvPr id="5" name="Text 2"/>
          <p:cNvSpPr/>
          <p:nvPr/>
        </p:nvSpPr>
        <p:spPr>
          <a:xfrm>
            <a:off x="585627" y="678093"/>
            <a:ext cx="3821986" cy="821933"/>
          </a:xfrm>
          <a:prstGeom prst="rect">
            <a:avLst/>
          </a:prstGeom>
          <a:noFill/>
          <a:ln/>
        </p:spPr>
        <p:txBody>
          <a:bodyPr wrap="none" rtlCol="0" anchor="t"/>
          <a:lstStyle/>
          <a:p>
            <a:pPr marL="0" indent="0">
              <a:lnSpc>
                <a:spcPts val="5468"/>
              </a:lnSpc>
              <a:buNone/>
            </a:pPr>
            <a:r>
              <a:rPr lang="en-US" sz="4374" dirty="0" smtClean="0">
                <a:solidFill>
                  <a:srgbClr val="1B1B27"/>
                </a:solidFill>
                <a:latin typeface="Raleway" pitchFamily="34" charset="0"/>
                <a:ea typeface="Raleway" pitchFamily="34" charset="-122"/>
              </a:rPr>
              <a:t>Visualization:</a:t>
            </a:r>
            <a:endParaRPr lang="en-US" sz="4374" dirty="0"/>
          </a:p>
        </p:txBody>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endParaRPr lang="en-US" sz="2187" dirty="0"/>
          </a:p>
        </p:txBody>
      </p:sp>
      <p:sp>
        <p:nvSpPr>
          <p:cNvPr id="8" name="Text 5"/>
          <p:cNvSpPr/>
          <p:nvPr/>
        </p:nvSpPr>
        <p:spPr>
          <a:xfrm>
            <a:off x="287678" y="2188396"/>
            <a:ext cx="6661047" cy="3390471"/>
          </a:xfrm>
          <a:prstGeom prst="rect">
            <a:avLst/>
          </a:prstGeom>
          <a:noFill/>
          <a:ln/>
        </p:spPr>
        <p:txBody>
          <a:bodyPr wrap="square" rtlCol="0" anchor="t"/>
          <a:lstStyle/>
          <a:p>
            <a:pPr algn="just"/>
            <a:r>
              <a:rPr lang="en-US" sz="1750" b="1" dirty="0">
                <a:latin typeface="Monster"/>
              </a:rPr>
              <a:t>Distribution of Children in the Dataset:</a:t>
            </a:r>
          </a:p>
          <a:p>
            <a:pPr algn="just"/>
            <a:r>
              <a:rPr lang="en-US" sz="1750" dirty="0">
                <a:latin typeface="Monster"/>
              </a:rPr>
              <a:t>The graph shows how many people in the dataset have different numbers of children. The graph clearly shows that most of the patients have no children and very few patients have more than 3 children</a:t>
            </a:r>
            <a:r>
              <a:rPr lang="en-US" sz="1750" dirty="0" smtClean="0">
                <a:latin typeface="Monster"/>
              </a:rPr>
              <a:t>.</a:t>
            </a:r>
          </a:p>
          <a:p>
            <a:pPr algn="just"/>
            <a:endParaRPr lang="en-US" sz="1750" dirty="0">
              <a:latin typeface="Monster"/>
            </a:endParaRPr>
          </a:p>
          <a:p>
            <a:pPr algn="just"/>
            <a:r>
              <a:rPr lang="en-US" sz="1750" b="1" dirty="0" smtClean="0">
                <a:latin typeface="Monster"/>
              </a:rPr>
              <a:t>Count of smoker in the Dataset:</a:t>
            </a:r>
            <a:endParaRPr lang="en-US" b="1" dirty="0" smtClean="0">
              <a:latin typeface="Monster"/>
            </a:endParaRPr>
          </a:p>
          <a:p>
            <a:pPr algn="just"/>
            <a:r>
              <a:rPr lang="en-US" sz="1750" kern="100" dirty="0">
                <a:solidFill>
                  <a:srgbClr val="3C3939"/>
                </a:solidFill>
                <a:latin typeface="Monster"/>
                <a:ea typeface="Roboto" pitchFamily="34" charset="-122"/>
                <a:cs typeface="Times New Roman" panose="02020603050405020304" pitchFamily="18" charset="0"/>
              </a:rPr>
              <a:t>This </a:t>
            </a:r>
            <a:r>
              <a:rPr lang="en-US" sz="1750" kern="100" dirty="0" smtClean="0">
                <a:solidFill>
                  <a:srgbClr val="3C3939"/>
                </a:solidFill>
                <a:latin typeface="Monster"/>
                <a:ea typeface="Roboto" pitchFamily="34" charset="-122"/>
                <a:cs typeface="Times New Roman" panose="02020603050405020304" pitchFamily="18" charset="0"/>
              </a:rPr>
              <a:t>graph show </a:t>
            </a:r>
            <a:r>
              <a:rPr lang="en-US" sz="1750" kern="100" dirty="0">
                <a:solidFill>
                  <a:srgbClr val="3C3939"/>
                </a:solidFill>
                <a:latin typeface="Monster"/>
                <a:ea typeface="Roboto" pitchFamily="34" charset="-122"/>
                <a:cs typeface="Times New Roman" panose="02020603050405020304" pitchFamily="18" charset="0"/>
              </a:rPr>
              <a:t>the count of smokers and non-smokers in </a:t>
            </a:r>
            <a:r>
              <a:rPr lang="en-US" sz="1750" kern="100" dirty="0" smtClean="0">
                <a:solidFill>
                  <a:srgbClr val="3C3939"/>
                </a:solidFill>
                <a:latin typeface="Monster"/>
                <a:ea typeface="Roboto" pitchFamily="34" charset="-122"/>
                <a:cs typeface="Times New Roman" panose="02020603050405020304" pitchFamily="18" charset="0"/>
              </a:rPr>
              <a:t>the data set. From the graph we can clearly see that </a:t>
            </a:r>
            <a:r>
              <a:rPr lang="en-US" sz="1750" dirty="0" smtClean="0">
                <a:latin typeface="Monster"/>
              </a:rPr>
              <a:t>smokers </a:t>
            </a:r>
            <a:r>
              <a:rPr lang="en-US" sz="1750" dirty="0">
                <a:latin typeface="Monster"/>
              </a:rPr>
              <a:t>are very few in the dataset. Nearly 80% of the patients are non-smokers.</a:t>
            </a:r>
            <a:endParaRPr lang="en-US" sz="1750" b="1" kern="100" dirty="0">
              <a:solidFill>
                <a:srgbClr val="3C3939"/>
              </a:solidFill>
              <a:latin typeface="Monster"/>
              <a:ea typeface="Roboto" pitchFamily="34" charset="-122"/>
              <a:cs typeface="Times New Roman" panose="02020603050405020304" pitchFamily="18" charset="0"/>
            </a:endParaRPr>
          </a:p>
        </p:txBody>
      </p:sp>
      <p:sp>
        <p:nvSpPr>
          <p:cNvPr id="11"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740" y="187304"/>
            <a:ext cx="5670841" cy="3886400"/>
          </a:xfrm>
          <a:prstGeom prst="rect">
            <a:avLst/>
          </a:prstGeom>
          <a:ln w="88900" cap="sq" cmpd="thickThin">
            <a:solidFill>
              <a:srgbClr val="000000"/>
            </a:solidFill>
            <a:prstDash val="solid"/>
            <a:miter lim="800000"/>
          </a:ln>
          <a:effectLst>
            <a:innerShdw blurRad="76200">
              <a:srgbClr val="000000"/>
            </a:innerShdw>
          </a:effectLst>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4740" y="4373258"/>
            <a:ext cx="5760020" cy="417851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794219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429048"/>
            <a:ext cx="14630400" cy="8658648"/>
          </a:xfrm>
          <a:prstGeom prst="rect">
            <a:avLst/>
          </a:prstGeom>
          <a:solidFill>
            <a:srgbClr val="FFFFFF">
              <a:alpha val="75000"/>
            </a:srgbClr>
          </a:solidFill>
          <a:ln/>
        </p:spPr>
      </p:sp>
      <p:sp>
        <p:nvSpPr>
          <p:cNvPr id="5" name="Text 2"/>
          <p:cNvSpPr/>
          <p:nvPr/>
        </p:nvSpPr>
        <p:spPr>
          <a:xfrm>
            <a:off x="585627" y="678093"/>
            <a:ext cx="3821986" cy="821933"/>
          </a:xfrm>
          <a:prstGeom prst="rect">
            <a:avLst/>
          </a:prstGeom>
          <a:noFill/>
          <a:ln/>
        </p:spPr>
        <p:txBody>
          <a:bodyPr wrap="none" rtlCol="0" anchor="t"/>
          <a:lstStyle/>
          <a:p>
            <a:pPr marL="0" indent="0">
              <a:lnSpc>
                <a:spcPts val="5468"/>
              </a:lnSpc>
              <a:buNone/>
            </a:pPr>
            <a:r>
              <a:rPr lang="en-US" sz="4374" dirty="0" smtClean="0">
                <a:solidFill>
                  <a:srgbClr val="1B1B27"/>
                </a:solidFill>
                <a:latin typeface="Raleway" pitchFamily="34" charset="0"/>
                <a:ea typeface="Raleway" pitchFamily="34" charset="-122"/>
              </a:rPr>
              <a:t>Visualization:</a:t>
            </a:r>
            <a:endParaRPr lang="en-US" sz="4374" dirty="0"/>
          </a:p>
        </p:txBody>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endParaRPr lang="en-US" sz="2187" dirty="0"/>
          </a:p>
        </p:txBody>
      </p:sp>
      <p:sp>
        <p:nvSpPr>
          <p:cNvPr id="8" name="Text 5"/>
          <p:cNvSpPr/>
          <p:nvPr/>
        </p:nvSpPr>
        <p:spPr>
          <a:xfrm>
            <a:off x="287678" y="2188396"/>
            <a:ext cx="6661047" cy="3637051"/>
          </a:xfrm>
          <a:prstGeom prst="rect">
            <a:avLst/>
          </a:prstGeom>
          <a:noFill/>
          <a:ln/>
        </p:spPr>
        <p:txBody>
          <a:bodyPr wrap="square" rtlCol="0" anchor="t"/>
          <a:lstStyle/>
          <a:p>
            <a:pPr algn="just"/>
            <a:r>
              <a:rPr lang="en-US" b="1" dirty="0">
                <a:latin typeface="Monster"/>
              </a:rPr>
              <a:t>Distribution of Medical Charges</a:t>
            </a:r>
            <a:r>
              <a:rPr lang="en-US" b="1" dirty="0" smtClean="0">
                <a:latin typeface="Monster"/>
              </a:rPr>
              <a:t>:</a:t>
            </a:r>
          </a:p>
          <a:p>
            <a:pPr algn="just"/>
            <a:r>
              <a:rPr lang="en-US" sz="1750" dirty="0" smtClean="0">
                <a:latin typeface="Monster"/>
              </a:rPr>
              <a:t> Here we are plotting </a:t>
            </a:r>
            <a:r>
              <a:rPr lang="en-US" sz="1750" dirty="0">
                <a:latin typeface="Monster"/>
              </a:rPr>
              <a:t>a histogram to show how medical charges are distributed in the dataset. As we can see from the graph that most of the medical expenses are below 20000, with negligible number of patients having medical expenses above </a:t>
            </a:r>
            <a:r>
              <a:rPr lang="en-US" sz="1750" dirty="0" smtClean="0">
                <a:latin typeface="Monster"/>
              </a:rPr>
              <a:t>50000.</a:t>
            </a:r>
            <a:endParaRPr lang="en-US" sz="1750" dirty="0">
              <a:latin typeface="Monster"/>
            </a:endParaRPr>
          </a:p>
          <a:p>
            <a:pPr algn="just"/>
            <a:endParaRPr lang="en-US" sz="1750" dirty="0">
              <a:latin typeface="Monster"/>
            </a:endParaRPr>
          </a:p>
          <a:p>
            <a:pPr algn="just"/>
            <a:r>
              <a:rPr lang="en-US" sz="1750" b="1" dirty="0" smtClean="0">
                <a:latin typeface="Monster"/>
              </a:rPr>
              <a:t>Distribution of BMI in the Dataset:</a:t>
            </a:r>
            <a:endParaRPr lang="en-US" b="1" dirty="0" smtClean="0">
              <a:latin typeface="Monster"/>
            </a:endParaRPr>
          </a:p>
          <a:p>
            <a:pPr algn="just"/>
            <a:r>
              <a:rPr lang="en-US" sz="1750" dirty="0" smtClean="0">
                <a:latin typeface="Monster"/>
              </a:rPr>
              <a:t>From the graph we can clearly see that </a:t>
            </a:r>
            <a:r>
              <a:rPr lang="en-US" sz="1750" dirty="0">
                <a:latin typeface="Monster"/>
              </a:rPr>
              <a:t>t</a:t>
            </a:r>
            <a:r>
              <a:rPr lang="en-US" sz="1750" dirty="0" smtClean="0">
                <a:latin typeface="Monster"/>
              </a:rPr>
              <a:t>he </a:t>
            </a:r>
            <a:r>
              <a:rPr lang="en-US" sz="1750" dirty="0">
                <a:latin typeface="Monster"/>
              </a:rPr>
              <a:t>majority of the patients have BMI between 25 and 40 which is considered as overweight and could be a major factor in increasing the medical cost</a:t>
            </a:r>
            <a:r>
              <a:rPr lang="en-US" sz="1750" dirty="0" smtClean="0">
                <a:latin typeface="Monster"/>
              </a:rPr>
              <a:t>.</a:t>
            </a:r>
            <a:endParaRPr lang="en-US" sz="1750" b="1" kern="100" dirty="0">
              <a:solidFill>
                <a:srgbClr val="3C3939"/>
              </a:solidFill>
              <a:latin typeface="Monster"/>
              <a:ea typeface="Roboto" pitchFamily="34" charset="-122"/>
              <a:cs typeface="Times New Roman" panose="02020603050405020304" pitchFamily="18" charset="0"/>
            </a:endParaRPr>
          </a:p>
        </p:txBody>
      </p:sp>
      <p:sp>
        <p:nvSpPr>
          <p:cNvPr id="11"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4"/>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2198" y="-100582"/>
            <a:ext cx="5486152" cy="3830102"/>
          </a:xfrm>
          <a:prstGeom prst="rect">
            <a:avLst/>
          </a:prstGeom>
          <a:ln w="88900" cap="sq" cmpd="thickThin">
            <a:solidFill>
              <a:srgbClr val="000000"/>
            </a:solidFill>
            <a:prstDash val="solid"/>
            <a:miter lim="800000"/>
          </a:ln>
          <a:effectLst>
            <a:innerShdw blurRad="76200">
              <a:srgbClr val="000000"/>
            </a:innerShdw>
          </a:effectLst>
        </p:spPr>
      </p:pic>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6040" y="4158568"/>
            <a:ext cx="5747045" cy="381654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5976094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81259"/>
            <a:ext cx="14630400" cy="8382777"/>
          </a:xfrm>
          <a:prstGeom prst="rect">
            <a:avLst/>
          </a:prstGeom>
          <a:solidFill>
            <a:srgbClr val="ECECF3"/>
          </a:solidFill>
          <a:ln/>
        </p:spPr>
      </p:sp>
      <p:sp>
        <p:nvSpPr>
          <p:cNvPr id="5" name="Text 2"/>
          <p:cNvSpPr/>
          <p:nvPr/>
        </p:nvSpPr>
        <p:spPr>
          <a:xfrm>
            <a:off x="833199" y="2880360"/>
            <a:ext cx="6461760"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Methodology (</a:t>
            </a:r>
            <a:r>
              <a:rPr lang="en-US" sz="4374" dirty="0" smtClean="0">
                <a:solidFill>
                  <a:srgbClr val="1B1B27"/>
                </a:solidFill>
                <a:latin typeface="Raleway" pitchFamily="34" charset="0"/>
                <a:ea typeface="Raleway" pitchFamily="34" charset="-122"/>
                <a:cs typeface="Raleway" pitchFamily="34" charset="-120"/>
              </a:rPr>
              <a:t>continued)</a:t>
            </a:r>
            <a:endParaRPr lang="en-US" sz="4374" dirty="0"/>
          </a:p>
        </p:txBody>
      </p:sp>
      <p:sp>
        <p:nvSpPr>
          <p:cNvPr id="7" name="Text 4"/>
          <p:cNvSpPr/>
          <p:nvPr/>
        </p:nvSpPr>
        <p:spPr>
          <a:xfrm>
            <a:off x="1010722" y="4123253"/>
            <a:ext cx="144780" cy="416481"/>
          </a:xfrm>
          <a:prstGeom prst="rect">
            <a:avLst/>
          </a:prstGeom>
          <a:noFill/>
          <a:ln/>
        </p:spPr>
        <p:txBody>
          <a:bodyPr wrap="none" rtlCol="0" anchor="t"/>
          <a:lstStyle/>
          <a:p>
            <a:pPr marL="0" indent="0" algn="ctr">
              <a:lnSpc>
                <a:spcPts val="3281"/>
              </a:lnSpc>
              <a:buNone/>
            </a:pPr>
            <a:r>
              <a:rPr lang="en-US" sz="2624" dirty="0" smtClean="0">
                <a:solidFill>
                  <a:srgbClr val="3C3939"/>
                </a:solidFill>
                <a:latin typeface="Raleway" pitchFamily="34" charset="0"/>
                <a:ea typeface="Raleway" pitchFamily="34" charset="-122"/>
              </a:rPr>
              <a:t>4..</a:t>
            </a:r>
            <a:endParaRPr lang="en-US" sz="2624" dirty="0"/>
          </a:p>
        </p:txBody>
      </p:sp>
      <p:sp>
        <p:nvSpPr>
          <p:cNvPr id="8" name="Text 5"/>
          <p:cNvSpPr/>
          <p:nvPr/>
        </p:nvSpPr>
        <p:spPr>
          <a:xfrm>
            <a:off x="1555313" y="4157901"/>
            <a:ext cx="2221944"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Model Evaluation</a:t>
            </a:r>
            <a:endParaRPr lang="en-US" sz="2187" dirty="0"/>
          </a:p>
        </p:txBody>
      </p:sp>
      <p:sp>
        <p:nvSpPr>
          <p:cNvPr id="9" name="Text 6"/>
          <p:cNvSpPr/>
          <p:nvPr/>
        </p:nvSpPr>
        <p:spPr>
          <a:xfrm>
            <a:off x="493160" y="4638318"/>
            <a:ext cx="5465851" cy="1433709"/>
          </a:xfrm>
          <a:prstGeom prst="rect">
            <a:avLst/>
          </a:prstGeom>
          <a:noFill/>
          <a:ln/>
        </p:spPr>
        <p:txBody>
          <a:bodyPr wrap="square" rtlCol="0" anchor="t"/>
          <a:lstStyle/>
          <a:p>
            <a:pPr marL="0" indent="0">
              <a:lnSpc>
                <a:spcPts val="2799"/>
              </a:lnSpc>
              <a:buNone/>
            </a:pPr>
            <a:r>
              <a:rPr lang="en-US" sz="1750" dirty="0">
                <a:solidFill>
                  <a:srgbClr val="3C3939"/>
                </a:solidFill>
                <a:latin typeface="Monster"/>
                <a:ea typeface="Roboto" pitchFamily="34" charset="-122"/>
                <a:cs typeface="Roboto" pitchFamily="34" charset="-120"/>
              </a:rPr>
              <a:t>Evaluate model accuracy using metrics such as Mean Absolute Error (MAE), Mean Squared Error (MSE), Root Mean Squared Error (RMSE), and R-squared.</a:t>
            </a:r>
            <a:endParaRPr lang="en-US" sz="1750" dirty="0">
              <a:latin typeface="Monster"/>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249" y="0"/>
            <a:ext cx="7613151" cy="822959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1" y="-1"/>
            <a:ext cx="14630400" cy="8658648"/>
          </a:xfrm>
          <a:prstGeom prst="rect">
            <a:avLst/>
          </a:prstGeom>
          <a:solidFill>
            <a:srgbClr val="FFFFFF">
              <a:alpha val="75000"/>
            </a:srgbClr>
          </a:solidFill>
          <a:ln/>
        </p:spPr>
      </p:sp>
      <p:sp>
        <p:nvSpPr>
          <p:cNvPr id="5" name="Text 2"/>
          <p:cNvSpPr/>
          <p:nvPr/>
        </p:nvSpPr>
        <p:spPr>
          <a:xfrm>
            <a:off x="585627" y="1068511"/>
            <a:ext cx="3821986" cy="811659"/>
          </a:xfrm>
          <a:prstGeom prst="rect">
            <a:avLst/>
          </a:prstGeom>
          <a:noFill/>
          <a:ln/>
        </p:spPr>
        <p:txBody>
          <a:bodyPr wrap="none" rtlCol="0" anchor="t"/>
          <a:lstStyle/>
          <a:p>
            <a:pPr marL="0" indent="0">
              <a:lnSpc>
                <a:spcPts val="5468"/>
              </a:lnSpc>
              <a:buNone/>
            </a:pPr>
            <a:r>
              <a:rPr lang="en-US" sz="4374" dirty="0" smtClean="0">
                <a:solidFill>
                  <a:srgbClr val="1B1B27"/>
                </a:solidFill>
                <a:latin typeface="Raleway" pitchFamily="34" charset="0"/>
                <a:ea typeface="Raleway" pitchFamily="34" charset="-122"/>
              </a:rPr>
              <a:t>Conclusion</a:t>
            </a:r>
            <a:endParaRPr lang="en-US" sz="4374" dirty="0"/>
          </a:p>
        </p:txBody>
      </p:sp>
      <p:sp>
        <p:nvSpPr>
          <p:cNvPr id="7" name="Text 4"/>
          <p:cNvSpPr/>
          <p:nvPr/>
        </p:nvSpPr>
        <p:spPr>
          <a:xfrm>
            <a:off x="472611" y="2188396"/>
            <a:ext cx="6476114" cy="462337"/>
          </a:xfrm>
          <a:prstGeom prst="rect">
            <a:avLst/>
          </a:prstGeom>
          <a:noFill/>
          <a:ln/>
        </p:spPr>
        <p:txBody>
          <a:bodyPr wrap="none" rtlCol="0" anchor="t"/>
          <a:lstStyle/>
          <a:p>
            <a:pPr marL="0" indent="0">
              <a:lnSpc>
                <a:spcPts val="2734"/>
              </a:lnSpc>
              <a:buNone/>
            </a:pPr>
            <a:endParaRPr lang="en-US" sz="2187" dirty="0"/>
          </a:p>
        </p:txBody>
      </p:sp>
      <p:sp>
        <p:nvSpPr>
          <p:cNvPr id="8" name="Text 5"/>
          <p:cNvSpPr/>
          <p:nvPr/>
        </p:nvSpPr>
        <p:spPr>
          <a:xfrm>
            <a:off x="287678" y="2414426"/>
            <a:ext cx="7202184" cy="3431570"/>
          </a:xfrm>
          <a:prstGeom prst="rect">
            <a:avLst/>
          </a:prstGeom>
          <a:noFill/>
          <a:ln/>
        </p:spPr>
        <p:txBody>
          <a:bodyPr wrap="square" rtlCol="0" anchor="t"/>
          <a:lstStyle/>
          <a:p>
            <a:pPr algn="just"/>
            <a:r>
              <a:rPr lang="en-US" sz="1600" dirty="0"/>
              <a:t> </a:t>
            </a:r>
            <a:r>
              <a:rPr lang="en-US" sz="1750" dirty="0">
                <a:latin typeface="Monster"/>
              </a:rPr>
              <a:t>In this project we are using two models to predict the medical expense both of our model </a:t>
            </a:r>
            <a:r>
              <a:rPr lang="en-US" sz="1750" dirty="0" smtClean="0">
                <a:latin typeface="Monster"/>
              </a:rPr>
              <a:t>are </a:t>
            </a:r>
            <a:r>
              <a:rPr lang="en-US" sz="1750" dirty="0">
                <a:latin typeface="Monster"/>
              </a:rPr>
              <a:t>giving accurate result but decision tree regressor is giving the best results with </a:t>
            </a:r>
            <a:r>
              <a:rPr lang="en-US" sz="1750" dirty="0" smtClean="0">
                <a:latin typeface="Monster"/>
              </a:rPr>
              <a:t>the </a:t>
            </a:r>
            <a:r>
              <a:rPr lang="en-US" sz="1750" dirty="0">
                <a:latin typeface="Monster"/>
              </a:rPr>
              <a:t>least RMSE value. Therefore we will use  decision tree regressor. Moreover, the </a:t>
            </a:r>
            <a:r>
              <a:rPr lang="en-US" sz="1750" dirty="0" smtClean="0">
                <a:latin typeface="Monster"/>
              </a:rPr>
              <a:t>medical expense </a:t>
            </a:r>
            <a:r>
              <a:rPr lang="en-US" sz="1750" dirty="0">
                <a:latin typeface="Monster"/>
              </a:rPr>
              <a:t>of smokers is higher than that of non-smokers. The medical expense of patients </a:t>
            </a:r>
            <a:r>
              <a:rPr lang="en-US" sz="1750" dirty="0" smtClean="0">
                <a:latin typeface="Monster"/>
              </a:rPr>
              <a:t> </a:t>
            </a:r>
            <a:r>
              <a:rPr lang="en-US" sz="1750" dirty="0">
                <a:latin typeface="Monster"/>
              </a:rPr>
              <a:t>with BMI greater than 30 is higher than that of patients with BMI less than 30. The </a:t>
            </a:r>
            <a:r>
              <a:rPr lang="en-US" sz="1750" dirty="0" smtClean="0">
                <a:latin typeface="Monster"/>
              </a:rPr>
              <a:t>medical expense </a:t>
            </a:r>
            <a:r>
              <a:rPr lang="en-US" sz="1750" dirty="0">
                <a:latin typeface="Monster"/>
              </a:rPr>
              <a:t>of older patients is higher than that of younger </a:t>
            </a:r>
            <a:r>
              <a:rPr lang="en-US" sz="1750" dirty="0" smtClean="0">
                <a:latin typeface="Monster"/>
              </a:rPr>
              <a:t>patients.Thus</a:t>
            </a:r>
            <a:r>
              <a:rPr lang="en-US" sz="1750" dirty="0" smtClean="0">
                <a:latin typeface="Monster"/>
              </a:rPr>
              <a:t>, </a:t>
            </a:r>
            <a:r>
              <a:rPr lang="en-US" sz="1750" dirty="0">
                <a:latin typeface="Monster"/>
              </a:rPr>
              <a:t>from the </a:t>
            </a:r>
            <a:r>
              <a:rPr lang="en-US" sz="1750" dirty="0" smtClean="0">
                <a:latin typeface="Monster"/>
              </a:rPr>
              <a:t>overall analysis</a:t>
            </a:r>
            <a:r>
              <a:rPr lang="en-US" sz="1750" dirty="0">
                <a:latin typeface="Monster"/>
              </a:rPr>
              <a:t>, we can conclude that the medical expense of patients depends on their </a:t>
            </a:r>
            <a:r>
              <a:rPr lang="en-US" sz="1750" dirty="0" smtClean="0">
                <a:latin typeface="Monster"/>
              </a:rPr>
              <a:t>age </a:t>
            </a:r>
            <a:r>
              <a:rPr lang="en-US" sz="1750" dirty="0">
                <a:latin typeface="Monster"/>
              </a:rPr>
              <a:t>BMI, smoking habits</a:t>
            </a:r>
            <a:r>
              <a:rPr lang="en-US" sz="1750" dirty="0" smtClean="0">
                <a:latin typeface="Monster"/>
              </a:rPr>
              <a:t>.</a:t>
            </a:r>
            <a:endParaRPr lang="en-US" sz="1750" dirty="0"/>
          </a:p>
          <a:p>
            <a:pPr marL="0" indent="0" algn="just">
              <a:lnSpc>
                <a:spcPts val="2799"/>
              </a:lnSpc>
              <a:buNone/>
            </a:pPr>
            <a:endParaRPr lang="en-US" sz="1750" dirty="0" smtClean="0">
              <a:solidFill>
                <a:srgbClr val="3C3939"/>
              </a:solidFill>
              <a:latin typeface="Roboto" pitchFamily="34" charset="0"/>
              <a:ea typeface="Roboto" pitchFamily="34" charset="-122"/>
              <a:cs typeface="Roboto" pitchFamily="34" charset="-120"/>
            </a:endParaRPr>
          </a:p>
        </p:txBody>
      </p:sp>
    </p:spTree>
    <p:extLst>
      <p:ext uri="{BB962C8B-B14F-4D97-AF65-F5344CB8AC3E}">
        <p14:creationId xmlns:p14="http://schemas.microsoft.com/office/powerpoint/2010/main" val="25521311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771</Words>
  <Application>Microsoft Office PowerPoint</Application>
  <PresentationFormat>Custom</PresentationFormat>
  <Paragraphs>69</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Calibri</vt:lpstr>
      <vt:lpstr>Calisto MT (Body)</vt:lpstr>
      <vt:lpstr>Monster</vt:lpstr>
      <vt:lpstr>Montserrat</vt:lpstr>
      <vt:lpstr>Raleway</vt:lpstr>
      <vt:lpstr>Roboto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Maheen Shahid</cp:lastModifiedBy>
  <cp:revision>27</cp:revision>
  <dcterms:created xsi:type="dcterms:W3CDTF">2024-01-16T15:59:18Z</dcterms:created>
  <dcterms:modified xsi:type="dcterms:W3CDTF">2024-01-22T18:46:38Z</dcterms:modified>
</cp:coreProperties>
</file>